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MaestroAI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Documentación técnica y funcional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4748B"/>
                </a:solidFill>
              </a:rPr>
              <a:t>Por qué MaestroAI y no «otro ChatGPT».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Las empresas quieren IA pero no pueden exponer datos sensibles ni perder control.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Los asistentes genéricos no clasifican, no auditan y no respetan políticas por área.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Falta trazabilidad, gobierno de costo y soberanía de datos (LFPDPPP).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La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Capa privada y gobernada: </a:t>
            </a:r>
            <a:r>
              <a:rPr sz="1300">
                <a:solidFill>
                  <a:srgbClr val="64748B"/>
                </a:solidFill>
              </a:rPr>
              <a:t>sobre cualquier modelo.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Enrutador de Privacidad: </a:t>
            </a:r>
            <a:r>
              <a:rPr sz="1300">
                <a:solidFill>
                  <a:srgbClr val="64748B"/>
                </a:solidFill>
              </a:rPr>
              <a:t>clasifica, redacta y decide la ruta por cada dato.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RAG por área: </a:t>
            </a:r>
            <a:r>
              <a:rPr sz="1300">
                <a:solidFill>
                  <a:srgbClr val="64748B"/>
                </a:solidFill>
              </a:rPr>
              <a:t>respuestas con fuentes citadas y permisos.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Integraciones: </a:t>
            </a:r>
            <a:r>
              <a:rPr sz="1300">
                <a:solidFill>
                  <a:srgbClr val="64748B"/>
                </a:solidFill>
              </a:rPr>
              <a:t>Google/Microsoft, CRM/ERP, n8n, BD/CSV.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Portal: </a:t>
            </a:r>
            <a:r>
              <a:rPr sz="1300">
                <a:solidFill>
                  <a:srgbClr val="64748B"/>
                </a:solidFill>
              </a:rPr>
              <a:t>Next.js 15 + Tailwind en Vercel (PWA).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API: </a:t>
            </a:r>
            <a:r>
              <a:rPr sz="1300">
                <a:solidFill>
                  <a:srgbClr val="64748B"/>
                </a:solidFill>
              </a:rPr>
              <a:t>FastAPI + SQLModel en Render; Postgres (Supabase).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RAG: </a:t>
            </a:r>
            <a:r>
              <a:rPr sz="1300">
                <a:solidFill>
                  <a:srgbClr val="64748B"/>
                </a:solidFill>
              </a:rPr>
              <a:t>embeddings cifrados + reranking + citas.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Modelos: </a:t>
            </a:r>
            <a:r>
              <a:rPr sz="1300">
                <a:solidFill>
                  <a:srgbClr val="64748B"/>
                </a:solidFill>
              </a:rPr>
              <a:t>local (Ollama) · VPC (vLLM) · open (NaN) · premium.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CI/CD: </a:t>
            </a:r>
            <a:r>
              <a:rPr sz="1300">
                <a:solidFill>
                  <a:srgbClr val="64748B"/>
                </a:solidFill>
              </a:rPr>
              <a:t>dev → qa → main con pytest + build.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Enrutador de Privacidad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4748B"/>
                </a:solidFill>
              </a:rPr>
              <a:t>El usuario nunca elige el modelo: lo decide la política.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Restringido: </a:t>
            </a:r>
            <a:r>
              <a:rPr sz="1300">
                <a:solidFill>
                  <a:srgbClr val="64748B"/>
                </a:solidFill>
              </a:rPr>
              <a:t>Local, nunca sale.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Confidencial / PII: </a:t>
            </a:r>
            <a:r>
              <a:rPr sz="1300">
                <a:solidFill>
                  <a:srgbClr val="64748B"/>
                </a:solidFill>
              </a:rPr>
              <a:t>VPC o local.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Interno / Público: </a:t>
            </a:r>
            <a:r>
              <a:rPr sz="1300">
                <a:solidFill>
                  <a:srgbClr val="64748B"/>
                </a:solidFill>
              </a:rPr>
              <a:t>NaN (open); premium a demanda.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Inyección/exfiltración: </a:t>
            </a:r>
            <a:r>
              <a:rPr sz="1300">
                <a:solidFill>
                  <a:srgbClr val="64748B"/>
                </a:solidFill>
              </a:rPr>
              <a:t>Bloqueado y auditado.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NaN-primero + cascada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Inicio: </a:t>
            </a:r>
            <a:r>
              <a:rPr sz="1300">
                <a:solidFill>
                  <a:srgbClr val="64748B"/>
                </a:solidFill>
              </a:rPr>
              <a:t>datos no sensibles empiezan en NaN (barato/rápido).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Escalada: </a:t>
            </a:r>
            <a:r>
              <a:rPr sz="1300">
                <a:solidFill>
                  <a:srgbClr val="64748B"/>
                </a:solidFill>
              </a:rPr>
              <a:t>premium solo con «máxima precisión» o si la respuesta es insuficiente.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Sin premium: </a:t>
            </a:r>
            <a:r>
              <a:rPr sz="1300">
                <a:solidFill>
                  <a:srgbClr val="64748B"/>
                </a:solidFill>
              </a:rPr>
              <a:t>todo en NaN; sin NaN, modo demostración.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Eficiencia: </a:t>
            </a:r>
            <a:r>
              <a:rPr sz="1300">
                <a:solidFill>
                  <a:srgbClr val="64748B"/>
                </a:solidFill>
              </a:rPr>
              <a:t>condensación + tope de gasto + rerank.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Módulos funcionales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Casos de uso (recetas): </a:t>
            </a:r>
            <a:r>
              <a:rPr sz="1300">
                <a:solidFill>
                  <a:srgbClr val="64748B"/>
                </a:solidFill>
              </a:rPr>
              <a:t>Genera entregables (propuestas, cartas, reportes, licitaciones) con un paso universal objetivo/notas/formato y grounding por categoría. Borrador → aprobar → exportar a Word/PDF/Markdown/PPTX/XLSX. Reporte por industria con plantillas por sector.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Agentes verticales: </a:t>
            </a:r>
            <a:r>
              <a:rPr sz="1300">
                <a:solidFill>
                  <a:srgbClr val="64748B"/>
                </a:solidFill>
              </a:rPr>
              <a:t>Agentes especializados (Document Intelligence, Cyber Diagnostic, Proposal/SOW, Executive Copilot) configurables por área; cada respuesta pasa por el router de privacidad y cita fuentes.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Chat con fuentes: </a:t>
            </a:r>
            <a:r>
              <a:rPr sz="1300">
                <a:solidFill>
                  <a:srgbClr val="64748B"/>
                </a:solidFill>
              </a:rPr>
              <a:t>3 modos de contexto (sin contexto / todo el RAG / elegir documentos), toggles de máxima precisión (cascada) y memoria; banner con clasificación y ruta real; exportable.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Notebooks: </a:t>
            </a:r>
            <a:r>
              <a:rPr sz="1300">
                <a:solidFill>
                  <a:srgbClr val="64748B"/>
                </a:solidFill>
              </a:rPr>
              <a:t>Estilo NotebookLM privado: fuentes + preguntas citadas + artefactos (resumen, FAQ, guía, briefing, cronología) acotados a esos documentos.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Documentos y RAG: </a:t>
            </a:r>
            <a:r>
              <a:rPr sz="1300">
                <a:solidFill>
                  <a:srgbClr val="64748B"/>
                </a:solidFill>
              </a:rPr>
              <a:t>Repositorio por área + catálogo de categorías; tratamiento auto-detectado (público/interno/confidencial/restringido) y editable; borrar y re-etiquetar; Drive como contexto; índice cifrado.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Memoria y etiquetas: </a:t>
            </a:r>
            <a:r>
              <a:rPr sz="1300">
                <a:solidFill>
                  <a:srgbClr val="64748B"/>
                </a:solidFill>
              </a:rPr>
              <a:t>Memoria persistente de trabajos con búsqueda semántica + por tags; recall en el chat ('¿recuerdas el trabajo C?'); auto-captura al completar casos.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Módulos funcionales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Generar imágenes: </a:t>
            </a:r>
            <a:r>
              <a:rPr sz="1300">
                <a:solidFill>
                  <a:srgbClr val="64748B"/>
                </a:solidFill>
              </a:rPr>
              <a:t>Texto→imagen (ruta estándar OpenAI), relación de aspecto y variantes; galería por área; PII redactada; auditada.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Flujogramas: </a:t>
            </a:r>
            <a:r>
              <a:rPr sz="1300">
                <a:solidFill>
                  <a:srgbClr val="64748B"/>
                </a:solidFill>
              </a:rPr>
              <a:t>La lógica del producto navegable: los flujos base del blueprint + flujo de caso + diseño libre.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Tableros: </a:t>
            </a:r>
            <a:r>
              <a:rPr sz="1300">
                <a:solidFill>
                  <a:srgbClr val="64748B"/>
                </a:solidFill>
              </a:rPr>
              <a:t>Dashboards a la medida: describe qué medir, agrega KPIs y gráficas en vivo (tokens por fuente, casos por receta, costo por ruta) + KPIs manuales.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Trámites y casos (MCP): </a:t>
            </a:r>
            <a:r>
              <a:rPr sz="1300">
                <a:solidFill>
                  <a:srgbClr val="64748B"/>
                </a:solidFill>
              </a:rPr>
              <a:t>Catálogo curado por país/estado/empresa por ejes de desarrollo; convierte un trámite en propuesta de caso; aterriza (grounding) las respuestas.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App Studio: </a:t>
            </a:r>
            <a:r>
              <a:rPr sz="1300">
                <a:solidFill>
                  <a:srgbClr val="64748B"/>
                </a:solidFill>
              </a:rPr>
              <a:t>Construye mini-apps con IA y publícalas (pago por despliegue).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Automatizaciones: </a:t>
            </a:r>
            <a:r>
              <a:rPr sz="1300">
                <a:solidFill>
                  <a:srgbClr val="64748B"/>
                </a:solidFill>
              </a:rPr>
              <a:t>Disparador (manual/programado/evento) → acción (workflow n8n / caso / conector / notificar), con plantillas y ejecución manual.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Integraciones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Correo: </a:t>
            </a:r>
            <a:r>
              <a:rPr sz="1300">
                <a:solidFill>
                  <a:srgbClr val="64748B"/>
                </a:solidFill>
              </a:rPr>
              <a:t>Outlook/Gmail/IMAP, multi-cuenta.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Acciones: </a:t>
            </a:r>
            <a:r>
              <a:rPr sz="1300">
                <a:solidFill>
                  <a:srgbClr val="64748B"/>
                </a:solidFill>
              </a:rPr>
              <a:t>Gmail/Outlook, Calendar, Sheets/Excel, Teams, SharePoint.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Conectores/Webhooks: </a:t>
            </a:r>
            <a:r>
              <a:rPr sz="1300">
                <a:solidFill>
                  <a:srgbClr val="64748B"/>
                </a:solidFill>
              </a:rPr>
              <a:t>CRM/ERP + HMAC entrante.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Legados: </a:t>
            </a:r>
            <a:r>
              <a:rPr sz="1300">
                <a:solidFill>
                  <a:srgbClr val="64748B"/>
                </a:solidFill>
              </a:rPr>
              <a:t>BD solo lectura y CSV → RAG; n8n para el resto.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Modelos de NaN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qwen3.6: </a:t>
            </a:r>
            <a:r>
              <a:rPr sz="1300">
                <a:solidFill>
                  <a:srgbClr val="64748B"/>
                </a:solidFill>
              </a:rPr>
              <a:t>principal (chat, tools, visión, reasoning).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deepseek-v4-flash / mimo-v2.5: </a:t>
            </a:r>
            <a:r>
              <a:rPr sz="1300">
                <a:solidFill>
                  <a:srgbClr val="64748B"/>
                </a:solidFill>
              </a:rPr>
              <a:t>1M tokens; mimo omnimodal.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qwen3-embedding / rerank: </a:t>
            </a:r>
            <a:r>
              <a:rPr sz="1300">
                <a:solidFill>
                  <a:srgbClr val="64748B"/>
                </a:solidFill>
              </a:rPr>
              <a:t>stack RAG.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kokoro / whisper: </a:t>
            </a:r>
            <a:r>
              <a:rPr sz="1300">
                <a:solidFill>
                  <a:srgbClr val="64748B"/>
                </a:solidFill>
              </a:rPr>
              <a:t>TTS / STT.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Seguridad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Cifrado en reposo AES-256-GCM por tenant.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Redacción de PII y minimización de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Auditoría total + export a SIEM.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LFPDPPP · OWASP LLM 2025 · NIST AI RMF.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Roles y gobierno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super_admin / admin: </a:t>
            </a:r>
            <a:r>
              <a:rPr sz="1300">
                <a:solidFill>
                  <a:srgbClr val="64748B"/>
                </a:solidFill>
              </a:rPr>
              <a:t>multi-tenant / configuración del tenant.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user / security / devops: </a:t>
            </a:r>
            <a:r>
              <a:rPr sz="1300">
                <a:solidFill>
                  <a:srgbClr val="64748B"/>
                </a:solidFill>
              </a:rPr>
              <a:t>uso / auditoría / integraciones.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Permisos por área y licencia: </a:t>
            </a:r>
            <a:r>
              <a:rPr sz="1300">
                <a:solidFill>
                  <a:srgbClr val="64748B"/>
                </a:solidFill>
              </a:rPr>
              <a:t>cada quien ve lo suyo.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Entornos y operación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dev → qa → main con CI obligatorio.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Despliegue: Vercel (portal) + Render (API).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Ayuda in-app + contextual (popup) por sección.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4155"/>
                </a:solidFill>
              </a:rPr>
              <a:t>• Auditoría navegable de cada acción.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6D28D9"/>
                </a:solidFill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Catálogos de configuración empresarial: </a:t>
            </a:r>
            <a:r>
              <a:rPr sz="1300">
                <a:solidFill>
                  <a:srgbClr val="64748B"/>
                </a:solidFill>
              </a:rPr>
              <a:t>en definición.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TTS/STT (NaN): </a:t>
            </a:r>
            <a:r>
              <a:rPr sz="1300">
                <a:solidFill>
                  <a:srgbClr val="64748B"/>
                </a:solidFill>
              </a:rPr>
              <a:t>voz y transcripción.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334155"/>
                </a:solidFill>
              </a:rPr>
              <a:t>SFTP: </a:t>
            </a:r>
            <a:r>
              <a:rPr sz="1300">
                <a:solidFill>
                  <a:srgbClr val="64748B"/>
                </a:solidFill>
              </a:rPr>
              <a:t>conector legado.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MaestroAI · Documentación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