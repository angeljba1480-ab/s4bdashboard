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MaestroAI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Documento Técnico —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Blueprint →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Privacy Model Router (PUBLIC/INTERNAL/CONFIDENTI: </a:t>
            </a:r>
            <a:r>
              <a:rPr sz="1200">
                <a:solidFill>
                  <a:srgbClr val="64748B"/>
                </a:solidFill>
              </a:rPr>
              <a:t>Hecho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Minimizar / anonimizar / auditar: </a:t>
            </a:r>
            <a:r>
              <a:rPr sz="1200">
                <a:solidFill>
                  <a:srgbClr val="64748B"/>
                </a:solidFill>
              </a:rPr>
              <a:t>Hecho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MVP: login, chat+RAG, carga segura, router, dash: </a:t>
            </a:r>
            <a:r>
              <a:rPr sz="1200">
                <a:solidFill>
                  <a:srgbClr val="64748B"/>
                </a:solidFill>
              </a:rPr>
              <a:t>Hecho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Agentes: Document Intelligence, Cyber, Proposal/: </a:t>
            </a:r>
            <a:r>
              <a:rPr sz="1200">
                <a:solidFill>
                  <a:srgbClr val="64748B"/>
                </a:solidFill>
              </a:rPr>
              <a:t>Hecho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Arquitectura por capas + multi-tenant: </a:t>
            </a:r>
            <a:r>
              <a:rPr sz="1200">
                <a:solidFill>
                  <a:srgbClr val="64748B"/>
                </a:solidFill>
              </a:rPr>
              <a:t>Hecho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Modelo de datos (tenants, users, agents, documen: </a:t>
            </a:r>
            <a:r>
              <a:rPr sz="1200">
                <a:solidFill>
                  <a:srgbClr val="64748B"/>
                </a:solidFill>
              </a:rPr>
              <a:t>Hecho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6 workflows operativos (Ingesta, RAG, SOW, Cyber: </a:t>
            </a:r>
            <a:r>
              <a:rPr sz="1200">
                <a:solidFill>
                  <a:srgbClr val="64748B"/>
                </a:solidFill>
              </a:rPr>
              <a:t>Hecho (n8n)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Cifrado AES-256 en reposo + KMS por tenant; RBAC: </a:t>
            </a:r>
            <a:r>
              <a:rPr sz="1200">
                <a:solidFill>
                  <a:srgbClr val="64748B"/>
                </a:solidFill>
              </a:rPr>
              <a:t>Hecho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Construido de 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Cascada NaN → premium (premium solo a demanda) + eficiencia/condensación de tokens.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Reranking del RAG (Qwen3-Reranker) para más precisión.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Toolkit de acciones de ESCRITURA (Gmail/Outlook, Calendar, Sheets/Excel, Teams) con aprobación humana.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Multi-cuenta de correo; contenedor de documentos por área + categorías + tratamiento.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Memoria + etiquetas; Notebooks; Flujogramas navegables; Generar imágenes.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4155"/>
                </a:solidFill>
              </a:rPr>
              <a:t>• Conectores legados (BD de solo lectura, CSV) → RAG; «ojito» de secretos auditado.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Área: Ventas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Propuesta comercial en minutos: </a:t>
            </a:r>
            <a:r>
              <a:rPr sz="1200">
                <a:solidFill>
                  <a:srgbClr val="64748B"/>
                </a:solidFill>
              </a:rPr>
              <a:t>Generar una propuesta lista para enviar a partir de datos mínimos.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Resumen de correo y agenda del día: </a:t>
            </a:r>
            <a:r>
              <a:rPr sz="1200">
                <a:solidFill>
                  <a:srgbClr val="64748B"/>
                </a:solidFill>
              </a:rPr>
              <a:t>Empezar el día con lo importante de la bandeja y el calendario.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Responder una licitación/RFP: </a:t>
            </a:r>
            <a:r>
              <a:rPr sz="1200">
                <a:solidFill>
                  <a:srgbClr val="64748B"/>
                </a:solidFill>
              </a:rPr>
              <a:t>Construir el borrador de respuesta a unas bases.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Seguimiento: correo + alta de lead en CRM: </a:t>
            </a:r>
            <a:r>
              <a:rPr sz="1200">
                <a:solidFill>
                  <a:srgbClr val="64748B"/>
                </a:solidFill>
              </a:rPr>
              <a:t>Enviar el follow-up y registrar el lead sin salir de la plataforma.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Área: Recursos Humanos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Cartas y contratos laborales: </a:t>
            </a:r>
            <a:r>
              <a:rPr sz="1200">
                <a:solidFill>
                  <a:srgbClr val="64748B"/>
                </a:solidFill>
              </a:rPr>
              <a:t>Generar oferta, carta o contrato con plantilla y datos del colaborador.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Consultas de políticas internas: </a:t>
            </a:r>
            <a:r>
              <a:rPr sz="1200">
                <a:solidFill>
                  <a:srgbClr val="64748B"/>
                </a:solidFill>
              </a:rPr>
              <a:t>Responder dudas del personal con base en el reglamento e ISO.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Criba y resumen de CVs (con privacidad): </a:t>
            </a:r>
            <a:r>
              <a:rPr sz="1200">
                <a:solidFill>
                  <a:srgbClr val="64748B"/>
                </a:solidFill>
              </a:rPr>
              <a:t>Resumir y comparar CVs respetando datos personales.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Onboarding automatizado: </a:t>
            </a:r>
            <a:r>
              <a:rPr sz="1200">
                <a:solidFill>
                  <a:srgbClr val="64748B"/>
                </a:solidFill>
              </a:rPr>
              <a:t>Disparar el checklist y la comunicación al alta de un colaborador.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Área: Finanzas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Reporte financiero / análisis: </a:t>
            </a:r>
            <a:r>
              <a:rPr sz="1200">
                <a:solidFill>
                  <a:srgbClr val="64748B"/>
                </a:solidFill>
              </a:rPr>
              <a:t>Generar un reporte a partir de cifras y notas.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Consultar datos de un sistema legado: </a:t>
            </a:r>
            <a:r>
              <a:rPr sz="1200">
                <a:solidFill>
                  <a:srgbClr val="64748B"/>
                </a:solidFill>
              </a:rPr>
              <a:t>Preguntar sobre datos de un ERP/BD sin API moderna.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Cobranza semanal automatizada: </a:t>
            </a:r>
            <a:r>
              <a:rPr sz="1200">
                <a:solidFill>
                  <a:srgbClr val="64748B"/>
                </a:solidFill>
              </a:rPr>
              <a:t>Recordatorios y reporte de cobranza cada semana.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Datos sensibles siempre protegidos: </a:t>
            </a:r>
            <a:r>
              <a:rPr sz="1200">
                <a:solidFill>
                  <a:srgbClr val="64748B"/>
                </a:solidFill>
              </a:rPr>
              <a:t>Garantizar que CLABE/tarjetas no salgan a la nube.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Área: Operaciones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Reporte de operación / KPIs: </a:t>
            </a:r>
            <a:r>
              <a:rPr sz="1200">
                <a:solidFill>
                  <a:srgbClr val="64748B"/>
                </a:solidFill>
              </a:rPr>
              <a:t>Ver y reportar el pulso operativo.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Procedimientos (SOP) con IA: </a:t>
            </a:r>
            <a:r>
              <a:rPr sz="1200">
                <a:solidFill>
                  <a:srgbClr val="64748B"/>
                </a:solidFill>
              </a:rPr>
              <a:t>Consultar y resumir manuales y procedimientos.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Alertas por evento: </a:t>
            </a:r>
            <a:r>
              <a:rPr sz="1200">
                <a:solidFill>
                  <a:srgbClr val="64748B"/>
                </a:solidFill>
              </a:rPr>
              <a:t>Reaccionar cuando ocurre algo (p. ej. documento crítico).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Integrar sistemas propios: </a:t>
            </a:r>
            <a:r>
              <a:rPr sz="1200">
                <a:solidFill>
                  <a:srgbClr val="64748B"/>
                </a:solidFill>
              </a:rPr>
              <a:t>Conectar herramientas a la medida sin API moderna.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Área: Proyectos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Generar un SOW / enunciado de trabajo: </a:t>
            </a:r>
            <a:r>
              <a:rPr sz="1200">
                <a:solidFill>
                  <a:srgbClr val="64748B"/>
                </a:solidFill>
              </a:rPr>
              <a:t>Crear un SOW metodológico a partir del input comercial.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Briefing y cronología del proyecto: </a:t>
            </a:r>
            <a:r>
              <a:rPr sz="1200">
                <a:solidFill>
                  <a:srgbClr val="64748B"/>
                </a:solidFill>
              </a:rPr>
              <a:t>Resumir documentos del proyecto en artefactos útiles.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Diagnóstico y roadmap: </a:t>
            </a:r>
            <a:r>
              <a:rPr sz="1200">
                <a:solidFill>
                  <a:srgbClr val="64748B"/>
                </a:solidFill>
              </a:rPr>
              <a:t>Evaluar (p. ej. ciberseguridad) y proponer un plan.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Seguimiento: eventos y tareas: </a:t>
            </a:r>
            <a:r>
              <a:rPr sz="1200">
                <a:solidFill>
                  <a:srgbClr val="64748B"/>
                </a:solidFill>
              </a:rPr>
              <a:t>Agendar y dar seguimiento desde la plataforma.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Área: Dirección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Resumen ejecutivo y tableros: </a:t>
            </a:r>
            <a:r>
              <a:rPr sz="1200">
                <a:solidFill>
                  <a:srgbClr val="64748B"/>
                </a:solidFill>
              </a:rPr>
              <a:t>Ver uso, costo, riesgos y documentos en un vistazo.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Auditoría y cumplimiento: </a:t>
            </a:r>
            <a:r>
              <a:rPr sz="1200">
                <a:solidFill>
                  <a:srgbClr val="64748B"/>
                </a:solidFill>
              </a:rPr>
              <a:t>Demostrar control y trazabilidad ante auditoría.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Decidir con memoria de trabajos: </a:t>
            </a:r>
            <a:r>
              <a:rPr sz="1200">
                <a:solidFill>
                  <a:srgbClr val="64748B"/>
                </a:solidFill>
              </a:rPr>
              <a:t>Retomar y construir sobre trabajos previos.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Control del costo de IA: </a:t>
            </a:r>
            <a:r>
              <a:rPr sz="1200">
                <a:solidFill>
                  <a:srgbClr val="64748B"/>
                </a:solidFill>
              </a:rPr>
              <a:t>Mantener el gasto bajo control sin perder calidad.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Pendientes por construir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Ingesta avanzada — antivirus + OCR: </a:t>
            </a:r>
            <a:r>
              <a:rPr sz="1200">
                <a:solidFill>
                  <a:srgbClr val="64748B"/>
                </a:solidFill>
              </a:rPr>
              <a:t>Escanear con antivirus el archivo subido y aplicar OCR a PDFs escaneados (sin capa de texto).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MFA (multi-factor) — TOTP: </a:t>
            </a:r>
            <a:r>
              <a:rPr sz="1200">
                <a:solidFill>
                  <a:srgbClr val="64748B"/>
                </a:solidFill>
              </a:rPr>
              <a:t>Segundo factor en el login (app autenticadora) con enrolamiento, verificación y códigos de respaldo.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Fine-tuning ligero (LoRA): </a:t>
            </a:r>
            <a:r>
              <a:rPr sz="1200">
                <a:solidFill>
                  <a:srgbClr val="64748B"/>
                </a:solidFill>
              </a:rPr>
              <a:t>Pipeline de dataset → anonimización → versionado → entrenamiento LoRA → evals → red team → despliegue.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Endurecimiento enterprise — TEE / mTLS / private endpoints: </a:t>
            </a:r>
            <a:r>
              <a:rPr sz="1200">
                <a:solidFill>
                  <a:srgbClr val="64748B"/>
                </a:solidFill>
              </a:rPr>
              <a:t>Confidential computing (TEE) para clientes regulados, mTLS entre servicios y endpoints privados.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6D28D9"/>
                </a:solidFill>
              </a:rPr>
              <a:t>Configuración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Microsoft 365 (Azure): </a:t>
            </a:r>
            <a:r>
              <a:rPr sz="1200">
                <a:solidFill>
                  <a:srgbClr val="64748B"/>
                </a:solidFill>
              </a:rPr>
              <a:t>Azure → App registrations → New registration (cuentas org + personales).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Google Workspace: </a:t>
            </a:r>
            <a:r>
              <a:rPr sz="1200">
                <a:solidFill>
                  <a:srgbClr val="64748B"/>
                </a:solidFill>
              </a:rPr>
              <a:t>Cloud Console → habilita Gmail/Calendar/Drive/Sheets API.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NaN (open) y Premium: </a:t>
            </a:r>
            <a:r>
              <a:rPr sz="1200">
                <a:solidFill>
                  <a:srgbClr val="64748B"/>
                </a:solidFill>
              </a:rPr>
              <a:t>Admin → Modelos externos: Base URL + modelo + API key.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Ollama (local privado): </a:t>
            </a:r>
            <a:r>
              <a:rPr sz="1200">
                <a:solidFill>
                  <a:srgbClr val="64748B"/>
                </a:solidFill>
              </a:rPr>
              <a:t>Instala Ollama y descarga un modelo (LOCAL_MODEL).</a:t>
            </a:r>
          </a:p>
          <a:p>
            <a:pPr>
              <a:spcAft>
                <a:spcPts val="500"/>
              </a:spcAft>
            </a:pPr>
            <a:r>
              <a:rPr b="1" sz="1400">
                <a:solidFill>
                  <a:srgbClr val="334155"/>
                </a:solidFill>
              </a:rPr>
              <a:t>n8n / Rerank / Ramas: </a:t>
            </a:r>
            <a:r>
              <a:rPr sz="1200">
                <a:solidFill>
                  <a:srgbClr val="64748B"/>
                </a:solidFill>
              </a:rPr>
              <a:t>n8n: Admin → n8n (Webhook Base URL + API key) o N8N_* en Render.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66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MaestroAI · v2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