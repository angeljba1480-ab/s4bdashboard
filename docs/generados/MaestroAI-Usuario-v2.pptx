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MaestroAI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566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Manual de Usuario — 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6D28D9"/>
                </a:solidFill>
              </a:rPr>
              <a:t>Cómo generar un entregable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334155"/>
                </a:solidFill>
              </a:rPr>
              <a:t>• Casos de uso → elige.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4155"/>
                </a:solidFill>
              </a:rPr>
              <a:t>• Llena datos mínimos.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4155"/>
                </a:solidFill>
              </a:rPr>
              <a:t>• Revisa y aprueba.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4155"/>
                </a:solidFill>
              </a:rPr>
              <a:t>• Descarga Word/PDF/PPTX/XLSX.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6D28D9"/>
                </a:solidFill>
              </a:rPr>
              <a:t>Para Ventas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Propuesta comercial en minutos: </a:t>
            </a:r>
            <a:r>
              <a:rPr sz="1200">
                <a:solidFill>
                  <a:srgbClr val="64748B"/>
                </a:solidFill>
              </a:rPr>
              <a:t>De horas a minutos, con marca y datos citados.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Resumen de correo y agenda del día: </a:t>
            </a:r>
            <a:r>
              <a:rPr sz="1200">
                <a:solidFill>
                  <a:srgbClr val="64748B"/>
                </a:solidFill>
              </a:rPr>
              <a:t>Menos tiempo en bandeja, foco en lo que vende.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Responder una licitación/RFP: </a:t>
            </a:r>
            <a:r>
              <a:rPr sz="1200">
                <a:solidFill>
                  <a:srgbClr val="64748B"/>
                </a:solidFill>
              </a:rPr>
              <a:t>Respuestas completas y trazables a las bases.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Seguimiento: correo + alta de lead en CRM: </a:t>
            </a:r>
            <a:r>
              <a:rPr sz="1200">
                <a:solidFill>
                  <a:srgbClr val="64748B"/>
                </a:solidFill>
              </a:rPr>
              <a:t>Cero doble captura; todo auditado.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6D28D9"/>
                </a:solidFill>
              </a:rPr>
              <a:t>Para Recursos Humanos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Cartas y contratos laborales: </a:t>
            </a:r>
            <a:r>
              <a:rPr sz="1200">
                <a:solidFill>
                  <a:srgbClr val="64748B"/>
                </a:solidFill>
              </a:rPr>
              <a:t>Documentos consistentes y con marca.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Consultas de políticas internas: </a:t>
            </a:r>
            <a:r>
              <a:rPr sz="1200">
                <a:solidFill>
                  <a:srgbClr val="64748B"/>
                </a:solidFill>
              </a:rPr>
              <a:t>Respuestas correctas y citadas, sin abrir manuales.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Criba y resumen de CVs (con privacidad): </a:t>
            </a:r>
            <a:r>
              <a:rPr sz="1200">
                <a:solidFill>
                  <a:srgbClr val="64748B"/>
                </a:solidFill>
              </a:rPr>
              <a:t>Agiliza reclutamiento sin exponer PII a la nube.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Onboarding automatizado: </a:t>
            </a:r>
            <a:r>
              <a:rPr sz="1200">
                <a:solidFill>
                  <a:srgbClr val="64748B"/>
                </a:solidFill>
              </a:rPr>
              <a:t>Onboarding uniforme y sin olvidos.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6D28D9"/>
                </a:solidFill>
              </a:rPr>
              <a:t>Para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Reporte financiero / análisis: </a:t>
            </a:r>
            <a:r>
              <a:rPr sz="1200">
                <a:solidFill>
                  <a:srgbClr val="64748B"/>
                </a:solidFill>
              </a:rPr>
              <a:t>Reportes con datos reales y formato listo.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Consultar datos de un sistema legado: </a:t>
            </a:r>
            <a:r>
              <a:rPr sz="1200">
                <a:solidFill>
                  <a:srgbClr val="64748B"/>
                </a:solidFill>
              </a:rPr>
              <a:t>Acceso a datos legados sin riesgo de escritura.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Cobranza semanal automatizada: </a:t>
            </a:r>
            <a:r>
              <a:rPr sz="1200">
                <a:solidFill>
                  <a:srgbClr val="64748B"/>
                </a:solidFill>
              </a:rPr>
              <a:t>Proceso recurrente sin intervención.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Datos sensibles siempre protegidos: </a:t>
            </a:r>
            <a:r>
              <a:rPr sz="1200">
                <a:solidFill>
                  <a:srgbClr val="64748B"/>
                </a:solidFill>
              </a:rPr>
              <a:t>Cumplimiento y tranquilidad por diseño.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6D28D9"/>
                </a:solidFill>
              </a:rPr>
              <a:t>Para Operaciones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Reporte de operación / KPIs: </a:t>
            </a:r>
            <a:r>
              <a:rPr sz="1200">
                <a:solidFill>
                  <a:srgbClr val="64748B"/>
                </a:solidFill>
              </a:rPr>
              <a:t>Decisiones con datos en vivo.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Procedimientos (SOP) con IA: </a:t>
            </a:r>
            <a:r>
              <a:rPr sz="1200">
                <a:solidFill>
                  <a:srgbClr val="64748B"/>
                </a:solidFill>
              </a:rPr>
              <a:t>Conocimiento operativo accesible al instante.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Alertas por evento: </a:t>
            </a:r>
            <a:r>
              <a:rPr sz="1200">
                <a:solidFill>
                  <a:srgbClr val="64748B"/>
                </a:solidFill>
              </a:rPr>
              <a:t>Respuesta inmediata a eventos clave.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Integrar sistemas propios: </a:t>
            </a:r>
            <a:r>
              <a:rPr sz="1200">
                <a:solidFill>
                  <a:srgbClr val="64748B"/>
                </a:solidFill>
              </a:rPr>
              <a:t>Orquestación con el ecosistema existente.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6D28D9"/>
                </a:solidFill>
              </a:rPr>
              <a:t>Para Proyectos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Generar un SOW / enunciado de trabajo: </a:t>
            </a:r>
            <a:r>
              <a:rPr sz="1200">
                <a:solidFill>
                  <a:srgbClr val="64748B"/>
                </a:solidFill>
              </a:rPr>
              <a:t>SOWs consistentes y rápidos.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Briefing y cronología del proyecto: </a:t>
            </a:r>
            <a:r>
              <a:rPr sz="1200">
                <a:solidFill>
                  <a:srgbClr val="64748B"/>
                </a:solidFill>
              </a:rPr>
              <a:t>Arranque y handoff de proyecto más claros.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Diagnóstico y roadmap: </a:t>
            </a:r>
            <a:r>
              <a:rPr sz="1200">
                <a:solidFill>
                  <a:srgbClr val="64748B"/>
                </a:solidFill>
              </a:rPr>
              <a:t>Diagnóstico ejecutivo accionable.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Seguimiento: eventos y tareas: </a:t>
            </a:r>
            <a:r>
              <a:rPr sz="1200">
                <a:solidFill>
                  <a:srgbClr val="64748B"/>
                </a:solidFill>
              </a:rPr>
              <a:t>Menos saltos entre apps.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6D28D9"/>
                </a:solidFill>
              </a:rPr>
              <a:t>Para Dirección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Resumen ejecutivo y tableros: </a:t>
            </a:r>
            <a:r>
              <a:rPr sz="1200">
                <a:solidFill>
                  <a:srgbClr val="64748B"/>
                </a:solidFill>
              </a:rPr>
              <a:t>Visión 360 del negocio y de la IA.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Auditoría y cumplimiento: </a:t>
            </a:r>
            <a:r>
              <a:rPr sz="1200">
                <a:solidFill>
                  <a:srgbClr val="64748B"/>
                </a:solidFill>
              </a:rPr>
              <a:t>Evidencia para cumplimiento (LFPDPPP).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Decidir con memoria de trabajos: </a:t>
            </a:r>
            <a:r>
              <a:rPr sz="1200">
                <a:solidFill>
                  <a:srgbClr val="64748B"/>
                </a:solidFill>
              </a:rPr>
              <a:t>Continuidad y aprovechamiento del conocimiento.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Control del costo de IA: </a:t>
            </a:r>
            <a:r>
              <a:rPr sz="1200">
                <a:solidFill>
                  <a:srgbClr val="64748B"/>
                </a:solidFill>
              </a:rPr>
              <a:t>Costo predecible; premium solo cuando aporta.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6D28D9"/>
                </a:solidFill>
              </a:rPr>
              <a:t>Recuerda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334155"/>
                </a:solidFill>
              </a:rPr>
              <a:t>• No eliges el modelo: el sistema protege tus datos.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4155"/>
                </a:solidFill>
              </a:rPr>
              <a:t>• Las respuestas con documentos citan la fuente.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4155"/>
                </a:solidFill>
              </a:rPr>
              <a:t>• Cada sección tiene «? Ayuda».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566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MaestroAI · v2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